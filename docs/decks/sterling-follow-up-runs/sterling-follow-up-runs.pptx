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24C0-F09E-3C6D-0464-E2C0066D61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27A9E7-C19F-1A4B-D79C-57FC216EA3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A0E33F-A915-E332-A781-2F990DFC3886}"/>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5" name="Footer Placeholder 4">
            <a:extLst>
              <a:ext uri="{FF2B5EF4-FFF2-40B4-BE49-F238E27FC236}">
                <a16:creationId xmlns:a16="http://schemas.microsoft.com/office/drawing/2014/main" id="{282E94C1-2095-59B8-2AC1-082B029DF0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90643F-F63C-5274-C671-A301FC73022F}"/>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1825496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279D9-35F8-B7B9-5196-FC05A14A32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9E1115-ACB4-FF04-9A7D-7BC51A4916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A0674F-F51E-F11C-1916-867A15C3E957}"/>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5" name="Footer Placeholder 4">
            <a:extLst>
              <a:ext uri="{FF2B5EF4-FFF2-40B4-BE49-F238E27FC236}">
                <a16:creationId xmlns:a16="http://schemas.microsoft.com/office/drawing/2014/main" id="{60CB40B4-5CD2-6354-4E91-6307FA06D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60841-708A-9142-DA3C-EF8B2D72B75F}"/>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2757220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9F58-9086-FE53-107D-3585F05D25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E58FCB-1F0E-365A-9FFE-1A0200B6E4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2D7A6C-6264-26E1-14BF-8CAD7CDD01C2}"/>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5" name="Footer Placeholder 4">
            <a:extLst>
              <a:ext uri="{FF2B5EF4-FFF2-40B4-BE49-F238E27FC236}">
                <a16:creationId xmlns:a16="http://schemas.microsoft.com/office/drawing/2014/main" id="{082662A1-F1BC-BB4D-E496-937A495557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CAD155-4BEA-FEE7-D33F-3C9B0CFF86B0}"/>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3069728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F578E-FF10-62E1-0DE7-4E242B0B98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3D4C3E-9129-62C9-6C7D-E3081849AA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195013-59EC-3426-6F46-A85E107690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B1CB24-6685-792D-4963-DDBB387204EF}"/>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6" name="Footer Placeholder 5">
            <a:extLst>
              <a:ext uri="{FF2B5EF4-FFF2-40B4-BE49-F238E27FC236}">
                <a16:creationId xmlns:a16="http://schemas.microsoft.com/office/drawing/2014/main" id="{0F335521-499A-E0A1-8DEB-0C61C116C2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3C141B-16E3-7818-4DA7-E68EDF7E5BD1}"/>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26446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41A26-794C-31AA-4E47-6135A4D599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2B1CFA-595D-0DEE-20F1-517DE61C4E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734D13-DA16-58E0-AC40-64385E47CE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604198-7A81-45F8-6C01-C644E5B1D5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F483A4-D1A5-F3DA-56A5-5AEE4E0A8B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3C5699-CC3F-5346-F4FF-0AA5E97D5884}"/>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8" name="Footer Placeholder 7">
            <a:extLst>
              <a:ext uri="{FF2B5EF4-FFF2-40B4-BE49-F238E27FC236}">
                <a16:creationId xmlns:a16="http://schemas.microsoft.com/office/drawing/2014/main" id="{A1E0CB50-D355-7929-0CC1-7AD28D65F9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75C4F0-E884-A1EB-36C4-5A8463CB0CC8}"/>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3400019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0F17F-0392-E074-58EA-281AFE93F2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04D80B-D11F-7397-D41E-BE25ECF269CC}"/>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4" name="Footer Placeholder 3">
            <a:extLst>
              <a:ext uri="{FF2B5EF4-FFF2-40B4-BE49-F238E27FC236}">
                <a16:creationId xmlns:a16="http://schemas.microsoft.com/office/drawing/2014/main" id="{B95611ED-D3DA-0474-6724-49D72BC0DC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447BAD-3606-91A2-1779-CCDBFBEBFE16}"/>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3964299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5DC8AC-3F76-2A64-526E-135E4A4A17A2}"/>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3" name="Footer Placeholder 2">
            <a:extLst>
              <a:ext uri="{FF2B5EF4-FFF2-40B4-BE49-F238E27FC236}">
                <a16:creationId xmlns:a16="http://schemas.microsoft.com/office/drawing/2014/main" id="{7ED5AD24-64AB-E1F7-654B-2CC350C3A6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EDF438-F320-AF91-17F7-48D2F9E515C8}"/>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1918452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4CCBF-A6B8-743C-FEA1-F12EF91053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D2372-2833-5372-A444-42DB562631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586981-6915-6AE9-D626-876BA8D4F0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499ECC-AF7F-C589-1AA9-6DB44572C85E}"/>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6" name="Footer Placeholder 5">
            <a:extLst>
              <a:ext uri="{FF2B5EF4-FFF2-40B4-BE49-F238E27FC236}">
                <a16:creationId xmlns:a16="http://schemas.microsoft.com/office/drawing/2014/main" id="{85E33EEE-CFDF-9DCE-D709-865C6425C3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94102B-BBC2-CE79-E44F-A0B86328819F}"/>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4204203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04CBC-0A55-D0FA-1D1A-413C7940AC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75A1D2-AD85-105D-5DDA-A41FC906C11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E1DD3D-4FBE-7A3F-697C-68F83131E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C79429-C956-CD1A-FF84-7895B5E075E2}"/>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6" name="Footer Placeholder 5">
            <a:extLst>
              <a:ext uri="{FF2B5EF4-FFF2-40B4-BE49-F238E27FC236}">
                <a16:creationId xmlns:a16="http://schemas.microsoft.com/office/drawing/2014/main" id="{C1354244-607F-D699-3C89-FDF45A7795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2548E-FD9F-172B-C6EA-E493E0A55AC0}"/>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3818486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1B0B0-35C4-F1CB-8A4E-5D690F038F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B6E2F3-5E6E-8839-CF10-9F9921F72D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4E633-A429-710B-3E23-8B18AC93CC6E}"/>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5" name="Footer Placeholder 4">
            <a:extLst>
              <a:ext uri="{FF2B5EF4-FFF2-40B4-BE49-F238E27FC236}">
                <a16:creationId xmlns:a16="http://schemas.microsoft.com/office/drawing/2014/main" id="{EB3001B4-99A2-3AEA-7779-1C24E669B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6FD657-14D5-1817-54ED-87661620F3FB}"/>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1031459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24205-6FC1-0CD2-F8E2-7D50DD9F67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D21C83-F342-6BFC-293F-76043EC365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EC8E51-45AC-469A-0158-770512689501}"/>
              </a:ext>
            </a:extLst>
          </p:cNvPr>
          <p:cNvSpPr>
            <a:spLocks noGrp="1"/>
          </p:cNvSpPr>
          <p:nvPr>
            <p:ph type="dt" sz="half" idx="10"/>
          </p:nvPr>
        </p:nvSpPr>
        <p:spPr/>
        <p:txBody>
          <a:bodyPr/>
          <a:lstStyle/>
          <a:p>
            <a:fld id="{6204F9EE-DC4B-40F3-9D51-9B4F75E25476}" type="datetimeFigureOut">
              <a:rPr lang="en-US" smtClean="0"/>
              <a:t>10/29/2026</a:t>
            </a:fld>
            <a:endParaRPr lang="en-US"/>
          </a:p>
        </p:txBody>
      </p:sp>
      <p:sp>
        <p:nvSpPr>
          <p:cNvPr id="5" name="Footer Placeholder 4">
            <a:extLst>
              <a:ext uri="{FF2B5EF4-FFF2-40B4-BE49-F238E27FC236}">
                <a16:creationId xmlns:a16="http://schemas.microsoft.com/office/drawing/2014/main" id="{ACBE99BB-E8EE-1E9D-4D2C-7F3A407F3E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31D88C-D310-6817-4018-6D9975E2099E}"/>
              </a:ext>
            </a:extLst>
          </p:cNvPr>
          <p:cNvSpPr>
            <a:spLocks noGrp="1"/>
          </p:cNvSpPr>
          <p:nvPr>
            <p:ph type="sldNum" sz="quarter" idx="12"/>
          </p:nvPr>
        </p:nvSpPr>
        <p:spPr/>
        <p:txBody>
          <a:bodyPr/>
          <a:lstStyle/>
          <a:p>
            <a:fld id="{E0F83EF3-2739-41C5-98DE-FBD816D4B932}" type="slidenum">
              <a:rPr lang="en-US" smtClean="0"/>
              <a:t>‹#›</a:t>
            </a:fld>
            <a:endParaRPr lang="en-US"/>
          </a:p>
        </p:txBody>
      </p:sp>
    </p:spTree>
    <p:extLst>
      <p:ext uri="{BB962C8B-B14F-4D97-AF65-F5344CB8AC3E}">
        <p14:creationId xmlns:p14="http://schemas.microsoft.com/office/powerpoint/2010/main" val="3310076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062A63-1061-6D17-F3F0-93F38742C4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67855D-B51E-F2AB-4A09-BE65DD4C7F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1E63F7-F515-C0D9-D620-3C18AF9C81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04F9EE-DC4B-40F3-9D51-9B4F75E25476}" type="datetimeFigureOut">
              <a:rPr lang="en-US" smtClean="0"/>
              <a:t>10/29/2026</a:t>
            </a:fld>
            <a:endParaRPr lang="en-US"/>
          </a:p>
        </p:txBody>
      </p:sp>
      <p:sp>
        <p:nvSpPr>
          <p:cNvPr id="5" name="Footer Placeholder 4">
            <a:extLst>
              <a:ext uri="{FF2B5EF4-FFF2-40B4-BE49-F238E27FC236}">
                <a16:creationId xmlns:a16="http://schemas.microsoft.com/office/drawing/2014/main" id="{28F43E1C-D15C-A68D-4E8E-D191794C3E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795100-4408-43C7-DC7C-BB7AD6679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F83EF3-2739-41C5-98DE-FBD816D4B932}" type="slidenum">
              <a:rPr lang="en-US" smtClean="0"/>
              <a:t>‹#›</a:t>
            </a:fld>
            <a:endParaRPr lang="en-US"/>
          </a:p>
        </p:txBody>
      </p:sp>
    </p:spTree>
    <p:extLst>
      <p:ext uri="{BB962C8B-B14F-4D97-AF65-F5344CB8AC3E}">
        <p14:creationId xmlns:p14="http://schemas.microsoft.com/office/powerpoint/2010/main" val="303973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mcasey10.github.io/sterling-design-system/runs/"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mcasey10.github.io/sterling-design-system/demo/"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mcasey10.github.io/sterling-design-system/#two-builds"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mcasey10.github.io/sterling-design-system/runs/"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mcasey10.github.io/sterling-design-system/runs/"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mcasey10.github.io/sterling-design-system/runs/"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mcasey10.github.io/sterling-design-system/runs/"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mcasey10.github.io/sterling-design-system/runs/"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mcasey10.github.io/sterling-design-system/runs/"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mcasey10.github.io/sterling-design-system/runs/" TargetMode="External"/><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mcasey10/sterling-design-system/tree/main/docs/demo/runs" TargetMode="External"/><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hyperlink" Target="https://mcasey10.github.io/sterling-design-system/ru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Title slide: &quot;Five follow-up runs&quot;. Subtitle: &quot;Did the fixes hold? An AI tool built the same screen with Sterling, five times from scratch.&quot; A smaller line: &quot;Sterling, a design system designed and built with Claude Code, under my direction.&quot;">
            <a:extLst>
              <a:ext uri="{FF2B5EF4-FFF2-40B4-BE49-F238E27FC236}">
                <a16:creationId xmlns:a16="http://schemas.microsoft.com/office/drawing/2014/main" id="{60312025-F23A-C227-6FC2-CC904FD4FBD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44DDD7C3-E311-B53A-B54E-AFF7E7EDD686}"/>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2135045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quot;The question, and how I tested it.&quot; On the left: during version 1.2, an AI coding tool built the Pool loans screen from Sterling; review found three problems in Sterling itself, which I fixed; but one run proves less than it seems. On the right, under &quot;How&quot;: five fresh sessions with the same kit (Sterling 1.2.0, the same request, mockup and data); each could use only the kit; every screen was scored the same way, with a script fixed in advance, a transcript review, and hands-on checks.">
            <a:extLst>
              <a:ext uri="{FF2B5EF4-FFF2-40B4-BE49-F238E27FC236}">
                <a16:creationId xmlns:a16="http://schemas.microsoft.com/office/drawing/2014/main" id="{1E2DA3EB-9FA4-CA11-2FA1-B076C8B3145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55FC35ED-9643-159B-5174-0FDDAB61F672}"/>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mcasey10.github.io/sterling-design-system/demo/</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3662122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Diagram of two builds. On the left, Sterling's definitions produce a Figma library, the sterling-ui React package, and AI files with an MCP server. On the right, a design mockup (what it looks like), a request (what it does), and sample data (what it shows) from the user go with the package and the MCP server to an AI coding tool, which builds the Pool loans screen. A review of the screen (checks, judgment, iteration) reports gaps to a Sterling backlog of gaps and new needs, which feeds the next version of the definitions; a dashed line notes that in this test the mockup came from Sterling's own example, and a footnote says that in a team, people building with Sterling refine the AI's draft and report gaps while the design system's owners decide what goes into the next version.">
            <a:extLst>
              <a:ext uri="{FF2B5EF4-FFF2-40B4-BE49-F238E27FC236}">
                <a16:creationId xmlns:a16="http://schemas.microsoft.com/office/drawing/2014/main" id="{FD1F3018-2461-3D0C-A158-C95864F81B0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109A5E89-EE7E-7F9C-24BD-3396F39AA8DD}"/>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mcasey10.github.io/sterling-design-system/#two-builds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2788923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Loan LN-204389's row, with its LTV of 93.0% flagged with a warning icon; the row looks the same before and after the fix. Below it, two diagrams: before, the screen used its own table styled with the data grid's internal styles and added the reason itself, and a screen reader heard &quot;93.0%, breaks a rule: LTV 93.0% — above 90%&quot;; after, the screen uses Sterling's data grid, the reason travels with the cell, and a screen reader hears &quot;Warning 93.0%, LTV 93.0% — above 90%&quot;.">
            <a:extLst>
              <a:ext uri="{FF2B5EF4-FFF2-40B4-BE49-F238E27FC236}">
                <a16:creationId xmlns:a16="http://schemas.microsoft.com/office/drawing/2014/main" id="{49FF6E69-0B9A-D118-82A0-EA10305EC39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6F6A22F1-C6C3-F455-96AB-9EFFE3329875}"/>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3028923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Before Reset, the Harbor Point loans view with a Status filter added, the same in both builds: the filter panel shows Lender Harbor Point and Status Exception, its Reset button outlined, beside chips for both filters and Clear all. After Reset, the first build has removed the view's own Lender filter too: its view, still named &quot;Harbor Point loans · edited&quot;, says &quot;No filters: every pool loan&quot;, and its grid shows the sample's &quot;Not in the sample data&quot; message; after the fixes, Reset returns to the Lender is Harbor Point chip and 12 Harbor Point rows, showing 1–12 of 58 pool loans.">
            <a:extLst>
              <a:ext uri="{FF2B5EF4-FFF2-40B4-BE49-F238E27FC236}">
                <a16:creationId xmlns:a16="http://schemas.microsoft.com/office/drawing/2014/main" id="{4B8362BC-AE28-FB20-B93A-DB5897E7572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980F8853-235C-0A76-617E-15101FF4DF81}"/>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2608705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The data grid's &quot;no results&quot; message on a 390 px wide screen. In the first build the message is centered on the grid's full width, not on the space you can see, and is cut off after &quot;No pool loans matc&quot;; after the fixes, it is centered and wrapped within the visible space of the grid frame, and the whole message, its explanation, and a Clear filters button fit.">
            <a:extLst>
              <a:ext uri="{FF2B5EF4-FFF2-40B4-BE49-F238E27FC236}">
                <a16:creationId xmlns:a16="http://schemas.microsoft.com/office/drawing/2014/main" id="{BD8326FF-838B-A066-7EFA-ACF6240D753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1051E215-E7B3-A904-82CA-C848CF64F747}"/>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246387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Thumbnails of the opening screen from follow-up runs 01 to 05, all showing the same Harbor Point loans view, with build times between 10 minutes 6 seconds and 13 minutes 32 seconds. A shared line says every run had all figures correct, all requested states built, and no automated accessibility violations, checked with axe in Light and Dark in every density.">
            <a:extLst>
              <a:ext uri="{FF2B5EF4-FFF2-40B4-BE49-F238E27FC236}">
                <a16:creationId xmlns:a16="http://schemas.microsoft.com/office/drawing/2014/main" id="{4D7E740D-CDEA-9092-900A-F76DF63AFD1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AB8CE73C-6532-2EC5-A11B-B7BB1D7F5FE6}"/>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3518572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A table of twelve items across follow-up runs 01 to 05, titled &quot;Every requested state, and the edge cases, in all five runs.&quot; Seven requested states (loading, empty, error, disabled actions, selection, the bulk action bar, and sign-off) and five edge cases (long lender names, a filter with no results, &quot;Any lender&quot;, Clear all, and loans not in the sample) are marked handled in every run. Loading and error were checked by hand; the others were scored automatically, and the loans-not-in-the-sample check was recorded as a note. Run 05's cell for that item adds &quot;wording noted&quot;: its empty state counted all 186 pool loans, though only the sample was filtered.">
            <a:extLst>
              <a:ext uri="{FF2B5EF4-FFF2-40B4-BE49-F238E27FC236}">
                <a16:creationId xmlns:a16="http://schemas.microsoft.com/office/drawing/2014/main" id="{00F6DA23-F1C4-AB71-AA1D-076E9FEEAA5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B72799BD-47E0-8918-FC8B-1F4BAEC110C4}"/>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1127246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The design mockup's header and bulk action bar, with Edit criteria and Export outlined, next to the request's list of what the trader can do, which mentions neither control. A table of the five follow-up runs shows that four left Export out and said so while run 02 added a CSV download and said so, and that runs 01, 02, and 04 added an Edit criteria placeholder while runs 03 and 05 left it out.">
            <a:extLst>
              <a:ext uri="{FF2B5EF4-FFF2-40B4-BE49-F238E27FC236}">
                <a16:creationId xmlns:a16="http://schemas.microsoft.com/office/drawing/2014/main" id="{B1152A7F-5550-5407-252F-63CA63CF9EF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BC68DCDE-6468-0300-9DB2-4DADB61D44AD}"/>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3748661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A table showing that all five follow-up runs built a View menu, Save view, and summary links, none of which the request described. The View menu and Save view are described by Sterling's Saved views pattern, and summary links by the Link component's guidance.">
            <a:extLst>
              <a:ext uri="{FF2B5EF4-FFF2-40B4-BE49-F238E27FC236}">
                <a16:creationId xmlns:a16="http://schemas.microsoft.com/office/drawing/2014/main" id="{4FC38107-C010-5A9A-0B37-3484C395314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9A83754A-669A-BAB5-A997-7BE8EC4EF660}"/>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hlinkClick r:id="rId3"/>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3034672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 image" descr="&quot;What it means&quot;, in three columns. Lessons: check AI-drafted requirements against their source; written-down patterns give consistent behavior without spelling it out; let your AI tool see what it builds. What the runs exposed in Sterling: every run (5 of 5) styled Sterling's internal class names, which Sterling never says are private; one run (1 of 5) didn't stack its layout on a narrow screen, where Sterling has no rule yet; both are on the backlog. Limits and next: a best case, the screen Sterling was designed for with a mockup from its own example; one screen, one model, five runs; next, a screen Sterling wasn't designed for.">
            <a:extLst>
              <a:ext uri="{FF2B5EF4-FFF2-40B4-BE49-F238E27FC236}">
                <a16:creationId xmlns:a16="http://schemas.microsoft.com/office/drawing/2014/main" id="{4514D236-09FE-467D-6E9F-6EB494BC7B1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k">
            <a:extLst>
              <a:ext uri="{FF2B5EF4-FFF2-40B4-BE49-F238E27FC236}">
                <a16:creationId xmlns:a16="http://schemas.microsoft.com/office/drawing/2014/main" id="{37F193BB-C046-C213-FB08-36A38FD4000F}"/>
              </a:ext>
            </a:extLst>
          </p:cNvPr>
          <p:cNvSpPr txBox="1"/>
          <p:nvPr/>
        </p:nvSpPr>
        <p:spPr>
          <a:xfrm>
            <a:off x="3352800" y="6515100"/>
            <a:ext cx="8229600" cy="254000"/>
          </a:xfrm>
          <a:prstGeom prst="rect">
            <a:avLst/>
          </a:prstGeom>
          <a:noFill/>
        </p:spPr>
        <p:txBody>
          <a:bodyPr vert="horz" wrap="square" lIns="0" tIns="0" rIns="0" bIns="0" rtlCol="0">
            <a:noAutofit/>
          </a:bodyPr>
          <a:lstStyle/>
          <a:p>
            <a:pPr algn="r"/>
            <a:r>
              <a:rPr lang="en-US" sz="1000">
                <a:solidFill>
                  <a:srgbClr val="9AA3AE"/>
                </a:solidFill>
                <a:latin typeface="Segoe UI" panose="020B0502040204020203" pitchFamily="34" charset="0"/>
              </a:rPr>
              <a:t>The full record: </a:t>
            </a:r>
            <a:r>
              <a:rPr lang="en-US" sz="1000">
                <a:solidFill>
                  <a:srgbClr val="9AA3AE"/>
                </a:solidFill>
                <a:latin typeface="Segoe UI" panose="020B0502040204020203" pitchFamily="34" charset="0"/>
                <a:hlinkClick r:id="rId3"/>
              </a:rPr>
              <a:t>github.com/mcasey10/sterling-design-system/tree/main/docs/demo/runs</a:t>
            </a:r>
            <a:r>
              <a:rPr lang="en-US" sz="1000">
                <a:solidFill>
                  <a:srgbClr val="9AA3AE"/>
                </a:solidFill>
                <a:latin typeface="Segoe UI" panose="020B0502040204020203" pitchFamily="34" charset="0"/>
              </a:rPr>
              <a:t>  ·  </a:t>
            </a:r>
            <a:r>
              <a:rPr lang="en-US" sz="1000">
                <a:solidFill>
                  <a:srgbClr val="9AA3AE"/>
                </a:solidFill>
                <a:latin typeface="Segoe UI" panose="020B0502040204020203" pitchFamily="34" charset="0"/>
                <a:hlinkClick r:id="rId4"/>
              </a:rPr>
              <a:t>mcasey10.github.io/sterling-design-system/runs/</a:t>
            </a:r>
            <a:endParaRPr lang="en-US" sz="1000">
              <a:solidFill>
                <a:srgbClr val="9AA3AE"/>
              </a:solidFill>
              <a:latin typeface="Segoe UI" panose="020B0502040204020203" pitchFamily="34" charset="0"/>
            </a:endParaRPr>
          </a:p>
        </p:txBody>
      </p:sp>
    </p:spTree>
    <p:extLst>
      <p:ext uri="{BB962C8B-B14F-4D97-AF65-F5344CB8AC3E}">
        <p14:creationId xmlns:p14="http://schemas.microsoft.com/office/powerpoint/2010/main" val="1357601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6B9BF2"/>
      </a:hlink>
      <a:folHlink>
        <a:srgbClr val="6B9BF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131</Words>
  <Application>Microsoft Office PowerPoint</Application>
  <PresentationFormat>Custom</PresentationFormat>
  <Paragraphs>11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2026-10-29T23:23:52Z</dcterms:created>
  <dcterms:modified xsi:type="dcterms:W3CDTF">2026-10-29T23:23:52Z</dcterms:modified>
</cp:coreProperties>
</file>